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310896" cy="0"/>
          </a:xfrm>
          <a:prstGeom prst="line">
            <a:avLst/>
          </a:prstGeom>
          <a:noFill/>
          <a:ln w="30480">
            <a:solidFill>
              <a:srgbClr val="167D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291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984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DISCHARGESAATHI AI  /  HEALTHCARE COMMUNICATION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DE8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653796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60" kern="0" dirty="0">
                <a:solidFill>
                  <a:srgbClr val="8FA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PROTOTYPE  ·  NOT FOR CLINICAL USE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pmc.ncbi.nlm.nih.gov/articles/PMC7159187/" TargetMode="External"/><Relationship Id="rId2" Type="http://schemas.openxmlformats.org/officeDocument/2006/relationships/hyperlink" Target="https://www.who.int/news-room/fact-sheets/detail/health-literacy" TargetMode="External"/><Relationship Id="rId3" Type="http://schemas.openxmlformats.org/officeDocument/2006/relationships/hyperlink" Target="https://pmc.ncbi.nlm.nih.gov/articles/PMC11579500/" TargetMode="External"/><Relationship Id="rId4" Type="http://schemas.openxmlformats.org/officeDocument/2006/relationships/hyperlink" Target="https://github.com/ollama/ollama/blob/main/docs/api.md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C38"/>
          </a:solidFill>
          <a:ln w="12700">
            <a:solidFill>
              <a:srgbClr val="173C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502920"/>
            <a:ext cx="4251960" cy="4251960"/>
          </a:xfrm>
          <a:prstGeom prst="ellipse">
            <a:avLst/>
          </a:prstGeom>
          <a:solidFill>
            <a:srgbClr val="173C38">
              <a:alpha val="0"/>
            </a:srgbClr>
          </a:solidFill>
          <a:ln w="17780">
            <a:solidFill>
              <a:srgbClr val="2D64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960120"/>
            <a:ext cx="3337560" cy="3337560"/>
          </a:xfrm>
          <a:prstGeom prst="ellipse">
            <a:avLst/>
          </a:prstGeom>
          <a:solidFill>
            <a:srgbClr val="173C38">
              <a:alpha val="0"/>
            </a:srgbClr>
          </a:solidFill>
          <a:ln w="12700">
            <a:solidFill>
              <a:srgbClr val="2D645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13232" y="722376"/>
            <a:ext cx="1783080" cy="256032"/>
          </a:xfrm>
          <a:prstGeom prst="roundRect">
            <a:avLst>
              <a:gd name="adj" fmla="val 42857"/>
            </a:avLst>
          </a:prstGeom>
          <a:solidFill>
            <a:srgbClr val="25554D"/>
          </a:solidFill>
          <a:ln w="6350">
            <a:solidFill>
              <a:srgbClr val="2555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74066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DF3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+ LOCAL AI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41732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DischargeSaathi AI</a:t>
            </a:r>
            <a:endParaRPr lang="en-US" sz="3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4884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B8E9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the next step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B8E9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easier to understand.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6576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5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local-first prototype that turns hospital discharge text into a clearer, source-aware patient guide.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4636008"/>
            <a:ext cx="4553712" cy="0"/>
          </a:xfrm>
          <a:prstGeom prst="line">
            <a:avLst/>
          </a:prstGeom>
          <a:noFill/>
          <a:ln w="15240">
            <a:solidFill>
              <a:srgbClr val="3B6D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85546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4C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 ·  OLLAMA  ·  PYTHON + FASTAPI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62453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80" kern="0" dirty="0">
                <a:solidFill>
                  <a:srgbClr val="91B1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PROJECT  /  OCTOBER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4251960" cy="43434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1097280"/>
            <a:ext cx="4251960" cy="438912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14032" y="12344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✳  discharge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72600" y="1216152"/>
            <a:ext cx="1344168" cy="256032"/>
          </a:xfrm>
          <a:prstGeom prst="roundRect">
            <a:avLst>
              <a:gd name="adj" fmla="val 42857"/>
            </a:avLst>
          </a:prstGeom>
          <a:solidFill>
            <a:srgbClr val="E0F4EA"/>
          </a:solidFill>
          <a:ln w="6350">
            <a:solidFill>
              <a:srgbClr val="E0F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27464" y="12344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5F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 READY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7159752" y="1755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guide studio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0391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note  ·  English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50608" y="2404872"/>
            <a:ext cx="1719072" cy="2331720"/>
          </a:xfrm>
          <a:prstGeom prst="roundRect">
            <a:avLst>
              <a:gd name="adj" fmla="val 4255"/>
            </a:avLst>
          </a:prstGeom>
          <a:solidFill>
            <a:srgbClr val="FAFCFB"/>
          </a:solidFill>
          <a:ln w="7620">
            <a:solidFill>
              <a:srgbClr val="E1EA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87768" y="25511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NOTE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87768" y="2889504"/>
            <a:ext cx="1325880" cy="41148"/>
          </a:xfrm>
          <a:prstGeom prst="rect">
            <a:avLst/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87768" y="3099816"/>
            <a:ext cx="1170432" cy="41148"/>
          </a:xfrm>
          <a:prstGeom prst="rect">
            <a:avLst/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3310128"/>
            <a:ext cx="1014984" cy="41148"/>
          </a:xfrm>
          <a:prstGeom prst="rect">
            <a:avLst/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87768" y="3520440"/>
            <a:ext cx="1325880" cy="41148"/>
          </a:xfrm>
          <a:prstGeom prst="rect">
            <a:avLst/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7768" y="3730752"/>
            <a:ext cx="1170432" cy="41148"/>
          </a:xfrm>
          <a:prstGeom prst="rect">
            <a:avLst/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87768" y="3941064"/>
            <a:ext cx="1014984" cy="41148"/>
          </a:xfrm>
          <a:prstGeom prst="rect">
            <a:avLst/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87768" y="4151376"/>
            <a:ext cx="1325880" cy="41148"/>
          </a:xfrm>
          <a:prstGeom prst="rect">
            <a:avLst/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61704" y="2404872"/>
            <a:ext cx="1847088" cy="2331720"/>
          </a:xfrm>
          <a:prstGeom prst="roundRect">
            <a:avLst>
              <a:gd name="adj" fmla="val 3960"/>
            </a:avLst>
          </a:prstGeom>
          <a:solidFill>
            <a:srgbClr val="F9FCFA"/>
          </a:solidFill>
          <a:ln w="7620">
            <a:solidFill>
              <a:srgbClr val="E1EA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08008" y="255117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2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PATIENT-FRIENDLY GUIDE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9198864" y="2889504"/>
            <a:ext cx="157276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5080">
            <a:solidFill>
              <a:srgbClr val="E6EE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72016" y="297180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9500616" y="2962656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language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198864" y="3374136"/>
            <a:ext cx="157276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5080">
            <a:solidFill>
              <a:srgbClr val="E6EEE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72016" y="3456432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07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＋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500616" y="3447288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 quote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198864" y="3858768"/>
            <a:ext cx="157276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5080">
            <a:solidFill>
              <a:srgbClr val="E6EEE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72016" y="394106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9500616" y="3931920"/>
            <a:ext cx="11612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150608" y="489204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FFF8E9"/>
          </a:solidFill>
          <a:ln w="7620">
            <a:solidFill>
              <a:srgbClr val="F0E1B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78624" y="4992624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7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 Draft only. Clinician review is required.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995160" y="568756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discharge information can be hard to understand.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3E6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Approach: explain the source, never invent the care.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HEALTHCARE PROBLEM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Discharge paperwork can leave patients with unanswered questions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and caregivers may leave hospital with important instructions that are hard to recall, interpret, or act 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657600" cy="3310128"/>
          </a:xfrm>
          <a:prstGeom prst="roundRect">
            <a:avLst>
              <a:gd name="adj" fmla="val 4972"/>
            </a:avLst>
          </a:prstGeom>
          <a:solidFill>
            <a:srgbClr val="173C38"/>
          </a:solidFill>
          <a:ln w="3810">
            <a:solidFill>
              <a:srgbClr val="173C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5786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E9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52958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recalled receiving all four key areas of verbal discharge information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736592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C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of chronic disease patients in three public hospitals in India.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98848" y="2176272"/>
            <a:ext cx="3246120" cy="1490472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2176272"/>
            <a:ext cx="50292" cy="1490472"/>
          </a:xfrm>
          <a:prstGeom prst="rect">
            <a:avLst/>
          </a:prstGeom>
          <a:solidFill>
            <a:srgbClr val="167D70"/>
          </a:solidFill>
          <a:ln w="12700">
            <a:solidFill>
              <a:srgbClr val="167D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1728" y="23408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263347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2962656"/>
            <a:ext cx="2834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about 31% of discharge notes contained all key items examined, including diagnosis, medicine information, lifestyle advice and follow-up.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2176272"/>
            <a:ext cx="3611880" cy="1490472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73568" y="2176272"/>
            <a:ext cx="50292" cy="1490472"/>
          </a:xfrm>
          <a:prstGeom prst="rect">
            <a:avLst/>
          </a:prstGeom>
          <a:solidFill>
            <a:srgbClr val="8071C4"/>
          </a:solidFill>
          <a:ln w="12700">
            <a:solidFill>
              <a:srgbClr val="8071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56448" y="23408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07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174736" y="263347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2962656"/>
            <a:ext cx="3200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Researchers judged about one-quarter of patients or caregivers to have a good understanding of almost all important details.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98848" y="3913632"/>
            <a:ext cx="708660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36592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36592" y="4489704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literacy is not just reading. People need information they can understand, evaluate, and use. The aim is to improve clarity without changing the clinician’s instructions.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29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PLOS ONE / study of three public hospitals in India (2020); WHO Health Literacy fact sheet (22 Dec 2025).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THE PROPOSED SOLUTION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patient guide built from the existing discharge note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DischargeSaathi AI is a reading and organisation assistant, not a diagnostic chatbot.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267004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6090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3F4EC"/>
          </a:solidFill>
          <a:ln w="2540">
            <a:solidFill>
              <a:srgbClr val="E3F4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706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1071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 the wording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22776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what the source says in clearer, everyday language.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2423160"/>
            <a:ext cx="267004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66090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CE9FB"/>
          </a:solidFill>
          <a:ln w="2540">
            <a:solidFill>
              <a:srgbClr val="ECE9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7706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7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41071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medicine text exact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922776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medication instructions as quoted in the source, not rewritten doses.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27648" y="2423160"/>
            <a:ext cx="267004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66090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FF0DE"/>
          </a:solidFill>
          <a:ln w="2540">
            <a:solidFill>
              <a:srgbClr val="FFF0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7706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8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41071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 next steps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922776"/>
            <a:ext cx="2231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stated follow-up actions and warning signs from other content.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08008" y="2423160"/>
            <a:ext cx="237744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0" y="266090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3F4EC"/>
          </a:solidFill>
          <a:ln w="2540">
            <a:solidFill>
              <a:srgbClr val="E3F4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0" y="27706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34107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what is missing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922776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questions for the care team instead of guessing.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983480"/>
            <a:ext cx="11018520" cy="658368"/>
          </a:xfrm>
          <a:prstGeom prst="roundRect">
            <a:avLst>
              <a:gd name="adj" fmla="val 13889"/>
            </a:avLst>
          </a:prstGeom>
          <a:solidFill>
            <a:srgbClr val="E8F4EE"/>
          </a:solidFill>
          <a:ln w="6350">
            <a:solidFill>
              <a:srgbClr val="D9E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5193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47088" y="5138928"/>
            <a:ext cx="8961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5F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source does not say it, the AI should not invent it.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29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scope: fictional or properly de-identified text only, with clinician review required for any real-world use.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USER JOURNEY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short workflow with review built 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flow starts from an existing note and ends with a draft that remains under human control.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560320"/>
            <a:ext cx="214884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2816352"/>
            <a:ext cx="731520" cy="731520"/>
          </a:xfrm>
          <a:prstGeom prst="ellipse">
            <a:avLst/>
          </a:prstGeom>
          <a:solidFill>
            <a:srgbClr val="EFF8F3"/>
          </a:solidFill>
          <a:ln w="6350">
            <a:solidFill>
              <a:srgbClr val="D8EC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53312" y="29718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68503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source note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0507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fictional discharge text and choose the output language.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43784" y="3547872"/>
            <a:ext cx="557784" cy="0"/>
          </a:xfrm>
          <a:prstGeom prst="line">
            <a:avLst/>
          </a:prstGeom>
          <a:noFill/>
          <a:ln w="22860">
            <a:solidFill>
              <a:srgbClr val="91C6B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33558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557016" y="2560320"/>
            <a:ext cx="214884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816352"/>
            <a:ext cx="731520" cy="731520"/>
          </a:xfrm>
          <a:prstGeom prst="ellipse">
            <a:avLst/>
          </a:prstGeom>
          <a:solidFill>
            <a:srgbClr val="EDEAFB"/>
          </a:solidFill>
          <a:ln w="6350">
            <a:solidFill>
              <a:srgbClr val="D8D0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29718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07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68503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39896" y="40507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structures the note using a source-only prompt and JSON schema.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42432" y="3547872"/>
            <a:ext cx="557784" cy="0"/>
          </a:xfrm>
          <a:prstGeom prst="line">
            <a:avLst/>
          </a:prstGeom>
          <a:noFill/>
          <a:ln w="22860">
            <a:solidFill>
              <a:srgbClr val="91C6B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16168" y="33558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455664" y="2560320"/>
            <a:ext cx="214884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2816352"/>
            <a:ext cx="731520" cy="731520"/>
          </a:xfrm>
          <a:prstGeom prst="ellipse">
            <a:avLst/>
          </a:prstGeom>
          <a:solidFill>
            <a:srgbClr val="DFF4ED"/>
          </a:solidFill>
          <a:ln w="6350">
            <a:solidFill>
              <a:srgbClr val="D8EC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50608" y="29718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368503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validation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38544" y="40507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checks whether each required source quote exists in the original note.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41080" y="3547872"/>
            <a:ext cx="557784" cy="0"/>
          </a:xfrm>
          <a:prstGeom prst="line">
            <a:avLst/>
          </a:prstGeom>
          <a:noFill/>
          <a:ln w="22860">
            <a:solidFill>
              <a:srgbClr val="91C6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14816" y="33558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354312" y="2560320"/>
            <a:ext cx="214884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0160">
            <a:solidFill>
              <a:srgbClr val="DFE9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49256" y="2816352"/>
            <a:ext cx="731520" cy="731520"/>
          </a:xfrm>
          <a:prstGeom prst="ellipse">
            <a:avLst/>
          </a:prstGeom>
          <a:solidFill>
            <a:srgbClr val="EFF8F3"/>
          </a:solidFill>
          <a:ln w="6350">
            <a:solidFill>
              <a:srgbClr val="D8EC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49256" y="29718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☷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9500616" y="3685032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guide draft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537192" y="40507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draft, missing details, questions, export and review warning.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" y="4965192"/>
            <a:ext cx="10844784" cy="667512"/>
          </a:xfrm>
          <a:prstGeom prst="roundRect">
            <a:avLst>
              <a:gd name="adj" fmla="val 15068"/>
            </a:avLst>
          </a:prstGeom>
          <a:solidFill>
            <a:srgbClr val="FFF7E7"/>
          </a:solidFill>
          <a:ln w="8890">
            <a:solidFill>
              <a:srgbClr val="EFE1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6968" y="5184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7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359152" y="5120640"/>
            <a:ext cx="8686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55E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checks reduce unsupported quotes, but do not prove that the explanation is medically correct.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WEB APPLICATION DESIGN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screen for the note, AI draft, and safety boundary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a guided demonstration rather than unrestricted medical chat.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2112264"/>
            <a:ext cx="11018520" cy="3867912"/>
          </a:xfrm>
          <a:prstGeom prst="roundRect">
            <a:avLst>
              <a:gd name="adj" fmla="val 3310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12264"/>
            <a:ext cx="11018520" cy="338328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31136"/>
            <a:ext cx="73152" cy="73152"/>
          </a:xfrm>
          <a:prstGeom prst="ellipse">
            <a:avLst/>
          </a:prstGeom>
          <a:solidFill>
            <a:srgbClr val="E5A99E"/>
          </a:solidFill>
          <a:ln w="3810">
            <a:solidFill>
              <a:srgbClr val="E5A9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31136"/>
            <a:ext cx="73152" cy="73152"/>
          </a:xfrm>
          <a:prstGeom prst="ellipse">
            <a:avLst/>
          </a:prstGeom>
          <a:solidFill>
            <a:srgbClr val="E6C88A"/>
          </a:solidFill>
          <a:ln w="3810">
            <a:solidFill>
              <a:srgbClr val="E6C8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" y="2231136"/>
            <a:ext cx="73152" cy="73152"/>
          </a:xfrm>
          <a:prstGeom prst="ellipse">
            <a:avLst/>
          </a:prstGeom>
          <a:solidFill>
            <a:srgbClr val="9FD1B9"/>
          </a:solidFill>
          <a:ln w="3810">
            <a:solidFill>
              <a:srgbClr val="9FD1B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212848"/>
            <a:ext cx="4023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127.0.0.1:8000  /  Patient guide studio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76072" y="2450592"/>
            <a:ext cx="1417320" cy="3529584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624328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✳ discharge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44368"/>
            <a:ext cx="1097280" cy="0"/>
          </a:xfrm>
          <a:prstGeom prst="line">
            <a:avLst/>
          </a:prstGeom>
          <a:noFill/>
          <a:ln w="6350">
            <a:solidFill>
              <a:srgbClr val="E0E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10896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E5F4ED"/>
          </a:solidFill>
          <a:ln w="2540">
            <a:solidFill>
              <a:srgbClr val="E5F4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3209544"/>
            <a:ext cx="9692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05F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Create guide</a:t>
            </a:r>
            <a:endParaRPr lang="en-US" sz="76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63931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How it works</a:t>
            </a:r>
            <a:endParaRPr lang="en-US" sz="74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9684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♡ Safety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04088" y="5047488"/>
            <a:ext cx="1143000" cy="667512"/>
          </a:xfrm>
          <a:prstGeom prst="roundRect">
            <a:avLst>
              <a:gd name="adj" fmla="val 8219"/>
            </a:avLst>
          </a:prstGeom>
          <a:solidFill>
            <a:srgbClr val="F0F8F4"/>
          </a:solidFill>
          <a:ln w="6350">
            <a:solidFill>
              <a:srgbClr val="DFEB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" y="516636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Local AI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813816" y="538581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status</a:t>
            </a:r>
            <a:endParaRPr lang="en-US" sz="670" dirty="0"/>
          </a:p>
        </p:txBody>
      </p:sp>
      <p:sp>
        <p:nvSpPr>
          <p:cNvPr id="21" name="Text 19"/>
          <p:cNvSpPr txBox="1"/>
          <p:nvPr/>
        </p:nvSpPr>
        <p:spPr>
          <a:xfrm>
            <a:off x="2267712" y="2642616"/>
            <a:ext cx="6126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step easier to understand.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292608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a discharge note. Generate a source-aware patient guide.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2267712" y="3282696"/>
            <a:ext cx="3767328" cy="2048256"/>
          </a:xfrm>
          <a:prstGeom prst="roundRect">
            <a:avLst>
              <a:gd name="adj" fmla="val 4018"/>
            </a:avLst>
          </a:prstGeom>
          <a:solidFill>
            <a:srgbClr val="FCFDFC"/>
          </a:solidFill>
          <a:ln w="7620">
            <a:solidFill>
              <a:srgbClr val="E1EA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50592" y="34472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DISCHARGE SUMMARY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450592" y="3776472"/>
            <a:ext cx="3154680" cy="41148"/>
          </a:xfrm>
          <a:prstGeom prst="rect">
            <a:avLst/>
          </a:prstGeom>
          <a:solidFill>
            <a:srgbClr val="DDE8E2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50592" y="3950208"/>
            <a:ext cx="2743200" cy="41148"/>
          </a:xfrm>
          <a:prstGeom prst="rect">
            <a:avLst/>
          </a:prstGeom>
          <a:solidFill>
            <a:srgbClr val="DDE8E2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50592" y="4123944"/>
            <a:ext cx="2331720" cy="41148"/>
          </a:xfrm>
          <a:prstGeom prst="rect">
            <a:avLst/>
          </a:prstGeom>
          <a:solidFill>
            <a:srgbClr val="DDE8E2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0592" y="4297680"/>
            <a:ext cx="3154680" cy="41148"/>
          </a:xfrm>
          <a:prstGeom prst="rect">
            <a:avLst/>
          </a:prstGeom>
          <a:solidFill>
            <a:srgbClr val="DDE8E2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50592" y="4471416"/>
            <a:ext cx="2743200" cy="41148"/>
          </a:xfrm>
          <a:prstGeom prst="rect">
            <a:avLst/>
          </a:prstGeom>
          <a:solidFill>
            <a:srgbClr val="DDE8E2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4645152"/>
            <a:ext cx="2331720" cy="41148"/>
          </a:xfrm>
          <a:prstGeom prst="rect">
            <a:avLst/>
          </a:prstGeom>
          <a:solidFill>
            <a:srgbClr val="DDE8E2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41448" y="4965192"/>
            <a:ext cx="1389888" cy="219456"/>
          </a:xfrm>
          <a:prstGeom prst="roundRect">
            <a:avLst>
              <a:gd name="adj" fmla="val 20833"/>
            </a:avLst>
          </a:prstGeom>
          <a:solidFill>
            <a:srgbClr val="167D70"/>
          </a:solidFill>
          <a:ln w="3810">
            <a:solidFill>
              <a:srgbClr val="167D7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05456" y="5020056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Generate patient guide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3977640" y="500176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data confirmation required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6236208" y="3282696"/>
            <a:ext cx="5001768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7620">
            <a:solidFill>
              <a:srgbClr val="E1EA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28232" y="344728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PATIENT-FRIENDLY GUIDE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428232" y="3730752"/>
            <a:ext cx="4553712" cy="246888"/>
          </a:xfrm>
          <a:prstGeom prst="roundRect">
            <a:avLst>
              <a:gd name="adj" fmla="val 18519"/>
            </a:avLst>
          </a:prstGeom>
          <a:solidFill>
            <a:srgbClr val="F8FBF9"/>
          </a:solidFill>
          <a:ln w="5080">
            <a:solidFill>
              <a:srgbClr val="E7EF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28816" y="3794760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50" dirty="0"/>
          </a:p>
        </p:txBody>
      </p:sp>
      <p:sp>
        <p:nvSpPr>
          <p:cNvPr id="38" name="Text 36"/>
          <p:cNvSpPr txBox="1"/>
          <p:nvPr/>
        </p:nvSpPr>
        <p:spPr>
          <a:xfrm>
            <a:off x="6876288" y="3794760"/>
            <a:ext cx="3520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summary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6428232" y="4041648"/>
            <a:ext cx="4553712" cy="246888"/>
          </a:xfrm>
          <a:prstGeom prst="roundRect">
            <a:avLst>
              <a:gd name="adj" fmla="val 18519"/>
            </a:avLst>
          </a:prstGeom>
          <a:solidFill>
            <a:srgbClr val="F8FBF9"/>
          </a:solidFill>
          <a:ln w="5080">
            <a:solidFill>
              <a:srgbClr val="E7EF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28816" y="4105656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  <p:sp>
        <p:nvSpPr>
          <p:cNvPr id="41" name="Text 39"/>
          <p:cNvSpPr txBox="1"/>
          <p:nvPr/>
        </p:nvSpPr>
        <p:spPr>
          <a:xfrm>
            <a:off x="6876288" y="4105656"/>
            <a:ext cx="3520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 wording from source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6428232" y="4352544"/>
            <a:ext cx="4553712" cy="246888"/>
          </a:xfrm>
          <a:prstGeom prst="roundRect">
            <a:avLst>
              <a:gd name="adj" fmla="val 18519"/>
            </a:avLst>
          </a:prstGeom>
          <a:solidFill>
            <a:srgbClr val="F8FBF9"/>
          </a:solidFill>
          <a:ln w="5080">
            <a:solidFill>
              <a:srgbClr val="E7EF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28816" y="4416552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  <p:sp>
        <p:nvSpPr>
          <p:cNvPr id="44" name="Text 42"/>
          <p:cNvSpPr txBox="1"/>
          <p:nvPr/>
        </p:nvSpPr>
        <p:spPr>
          <a:xfrm>
            <a:off x="6876288" y="4416552"/>
            <a:ext cx="3520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 and follow-up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6428232" y="4663440"/>
            <a:ext cx="4553712" cy="246888"/>
          </a:xfrm>
          <a:prstGeom prst="roundRect">
            <a:avLst>
              <a:gd name="adj" fmla="val 18519"/>
            </a:avLst>
          </a:prstGeom>
          <a:solidFill>
            <a:srgbClr val="FFF8E9"/>
          </a:solidFill>
          <a:ln w="5080">
            <a:solidFill>
              <a:srgbClr val="F0E1B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28816" y="4727448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9A7D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  <p:sp>
        <p:nvSpPr>
          <p:cNvPr id="47" name="Text 45"/>
          <p:cNvSpPr txBox="1"/>
          <p:nvPr/>
        </p:nvSpPr>
        <p:spPr>
          <a:xfrm>
            <a:off x="6876288" y="4727448"/>
            <a:ext cx="3520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to clarify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6236208" y="5458968"/>
            <a:ext cx="5001768" cy="338328"/>
          </a:xfrm>
          <a:prstGeom prst="roundRect">
            <a:avLst>
              <a:gd name="adj" fmla="val 16216"/>
            </a:avLst>
          </a:prstGeom>
          <a:solidFill>
            <a:srgbClr val="FFF7E7"/>
          </a:solidFill>
          <a:ln w="6350">
            <a:solidFill>
              <a:srgbClr val="EFE1B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73368" y="5559552"/>
            <a:ext cx="4663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826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Draft only. Clinician review required. Quote checks do not prove medical accuracy.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TECHNICAL ARCHITECTURE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Ollama keeps the model call on the local machine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does not need a cloud AI key. The local Ollama service hosts the selected model.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404872"/>
            <a:ext cx="20574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0160">
            <a:solidFill>
              <a:srgbClr val="DEE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04872"/>
            <a:ext cx="2057400" cy="54864"/>
          </a:xfrm>
          <a:prstGeom prst="rect">
            <a:avLst/>
          </a:prstGeom>
          <a:solidFill>
            <a:srgbClr val="167D70"/>
          </a:solidFill>
          <a:ln w="12700">
            <a:solidFill>
              <a:srgbClr val="167D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660904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0083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· CSS · JavaScript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01568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 fictional text, language and model selection.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862072" y="3273552"/>
            <a:ext cx="365760" cy="0"/>
          </a:xfrm>
          <a:prstGeom prst="line">
            <a:avLst/>
          </a:prstGeom>
          <a:noFill/>
          <a:ln w="24130">
            <a:solidFill>
              <a:srgbClr val="8AC7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3090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337560" y="2404872"/>
            <a:ext cx="2057400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0160">
            <a:solidFill>
              <a:srgbClr val="DEE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404872"/>
            <a:ext cx="2057400" cy="54864"/>
          </a:xfrm>
          <a:prstGeom prst="rect">
            <a:avLst/>
          </a:prstGeom>
          <a:solidFill>
            <a:srgbClr val="167D70"/>
          </a:solidFill>
          <a:ln w="12700">
            <a:solidFill>
              <a:srgbClr val="167D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02152" y="2660904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30083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· Pydantic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401568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input, builds prompt, handles errors and returns JSON.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468112" y="3273552"/>
            <a:ext cx="365760" cy="0"/>
          </a:xfrm>
          <a:prstGeom prst="line">
            <a:avLst/>
          </a:prstGeom>
          <a:noFill/>
          <a:ln w="24130">
            <a:solidFill>
              <a:srgbClr val="8AC7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3090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943600" y="2404872"/>
            <a:ext cx="2057400" cy="1828800"/>
          </a:xfrm>
          <a:prstGeom prst="roundRect">
            <a:avLst>
              <a:gd name="adj" fmla="val 6500"/>
            </a:avLst>
          </a:prstGeom>
          <a:solidFill>
            <a:srgbClr val="F1EDFC"/>
          </a:solidFill>
          <a:ln w="10160">
            <a:solidFill>
              <a:srgbClr val="DE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2404872"/>
            <a:ext cx="2057400" cy="54864"/>
          </a:xfrm>
          <a:prstGeom prst="rect">
            <a:avLst/>
          </a:prstGeom>
          <a:solidFill>
            <a:srgbClr val="8071C4"/>
          </a:solidFill>
          <a:ln w="12700">
            <a:solidFill>
              <a:srgbClr val="8071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2660904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API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89904" y="30083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7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localhost:11434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401568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installed models and calls /api/chat with JSON schema.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074152" y="3273552"/>
            <a:ext cx="365760" cy="0"/>
          </a:xfrm>
          <a:prstGeom prst="line">
            <a:avLst/>
          </a:prstGeom>
          <a:noFill/>
          <a:ln w="24130">
            <a:solidFill>
              <a:srgbClr val="8AC7B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090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8549640" y="2404872"/>
            <a:ext cx="2697480" cy="1828800"/>
          </a:xfrm>
          <a:prstGeom prst="roundRect">
            <a:avLst>
              <a:gd name="adj" fmla="val 6500"/>
            </a:avLst>
          </a:prstGeom>
          <a:solidFill>
            <a:srgbClr val="EAF6F0"/>
          </a:solidFill>
          <a:ln w="10160">
            <a:solidFill>
              <a:srgbClr val="DEE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9640" y="2404872"/>
            <a:ext cx="2697480" cy="54864"/>
          </a:xfrm>
          <a:prstGeom prst="rect">
            <a:avLst/>
          </a:prstGeom>
          <a:solidFill>
            <a:srgbClr val="167D70"/>
          </a:solidFill>
          <a:ln w="12700">
            <a:solidFill>
              <a:srgbClr val="167D7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14232" y="2660904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checks + output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695944" y="3008376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deterministic validation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401568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source quotes, removes unsupported excerpts, and marks clinical review required.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31520" y="4617720"/>
            <a:ext cx="10515600" cy="777240"/>
          </a:xfrm>
          <a:prstGeom prst="roundRect">
            <a:avLst>
              <a:gd name="adj" fmla="val 12941"/>
            </a:avLst>
          </a:prstGeom>
          <a:solidFill>
            <a:srgbClr val="173C38"/>
          </a:solidFill>
          <a:ln w="6350">
            <a:solidFill>
              <a:srgbClr val="173C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120" y="4846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E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by design goal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862072" y="477316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analysis result is persisted by this prototype. Keep real identifiable patient information out of the demo.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29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reference: Ollama API documentation (local base URL http://localhost:11434/api; structured output via /api/chat format schema).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PROMPT ENGINEERING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constrained the task, not just the tone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safer result comes from layered instructions, structured output, and checks outside the model.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2377440"/>
            <a:ext cx="2551176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8890">
            <a:solidFill>
              <a:srgbClr val="DFE9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69464"/>
            <a:ext cx="429768" cy="256032"/>
          </a:xfrm>
          <a:prstGeom prst="roundRect">
            <a:avLst>
              <a:gd name="adj" fmla="val 42857"/>
            </a:avLst>
          </a:prstGeom>
          <a:solidFill>
            <a:srgbClr val="E5F4EC"/>
          </a:solidFill>
          <a:ln w="6350">
            <a:solidFill>
              <a:srgbClr val="E5F4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5877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44368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role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2735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Patient-education assistant, not a doctor.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3099816"/>
            <a:ext cx="192024" cy="0"/>
          </a:xfrm>
          <a:prstGeom prst="line">
            <a:avLst/>
          </a:prstGeom>
          <a:noFill/>
          <a:ln w="22860">
            <a:solidFill>
              <a:srgbClr val="94CB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9544" y="29352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74720" y="2377440"/>
            <a:ext cx="2551176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8890">
            <a:solidFill>
              <a:srgbClr val="DFE9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569464"/>
            <a:ext cx="429768" cy="256032"/>
          </a:xfrm>
          <a:prstGeom prst="roundRect">
            <a:avLst>
              <a:gd name="adj" fmla="val 42857"/>
            </a:avLst>
          </a:prstGeom>
          <a:solidFill>
            <a:srgbClr val="F0ECFC"/>
          </a:solidFill>
          <a:ln w="6350">
            <a:solidFill>
              <a:srgbClr val="F0E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12464" y="25877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7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944368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source-only rules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2735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medical facts, medicine details, or warning signs.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53328" y="3099816"/>
            <a:ext cx="192024" cy="0"/>
          </a:xfrm>
          <a:prstGeom prst="line">
            <a:avLst/>
          </a:prstGeom>
          <a:noFill/>
          <a:ln w="22860">
            <a:solidFill>
              <a:srgbClr val="94CB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62472" y="29352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27648" y="2377440"/>
            <a:ext cx="2551176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8890">
            <a:solidFill>
              <a:srgbClr val="DFE9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2569464"/>
            <a:ext cx="429768" cy="256032"/>
          </a:xfrm>
          <a:prstGeom prst="roundRect">
            <a:avLst>
              <a:gd name="adj" fmla="val 42857"/>
            </a:avLst>
          </a:prstGeom>
          <a:solidFill>
            <a:srgbClr val="FFF2E2"/>
          </a:solidFill>
          <a:ln w="6350">
            <a:solidFill>
              <a:srgbClr val="FFF2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5392" y="25877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8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2944368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quotations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32735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extracted instruction must point to exact text in the note.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06256" y="3099816"/>
            <a:ext cx="192024" cy="0"/>
          </a:xfrm>
          <a:prstGeom prst="line">
            <a:avLst/>
          </a:prstGeom>
          <a:noFill/>
          <a:ln w="22860">
            <a:solidFill>
              <a:srgbClr val="94CB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15400" y="29352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180576" y="2377440"/>
            <a:ext cx="2551176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8890">
            <a:solidFill>
              <a:srgbClr val="DFE9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63456" y="2569464"/>
            <a:ext cx="429768" cy="256032"/>
          </a:xfrm>
          <a:prstGeom prst="roundRect">
            <a:avLst>
              <a:gd name="adj" fmla="val 42857"/>
            </a:avLst>
          </a:prstGeom>
          <a:solidFill>
            <a:srgbClr val="E5F4EC"/>
          </a:solidFill>
          <a:ln w="6350">
            <a:solidFill>
              <a:srgbClr val="E5F4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18320" y="25877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9363456" y="2944368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structure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63456" y="32735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schema plus Python quote-matching checks.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" y="4142232"/>
            <a:ext cx="10963656" cy="1335024"/>
          </a:xfrm>
          <a:prstGeom prst="roundRect">
            <a:avLst>
              <a:gd name="adj" fmla="val 8904"/>
            </a:avLst>
          </a:prstGeom>
          <a:solidFill>
            <a:srgbClr val="F0F7F3"/>
          </a:solidFill>
          <a:ln w="7620">
            <a:solidFill>
              <a:srgbClr val="DDEB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4361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refinement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718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A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prompt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874520" y="4681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“Simplify this discharge note.”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36592" y="4636008"/>
            <a:ext cx="0" cy="566928"/>
          </a:xfrm>
          <a:prstGeom prst="line">
            <a:avLst/>
          </a:prstGeom>
          <a:noFill/>
          <a:ln w="12700">
            <a:solidFill>
              <a:srgbClr val="C9DDD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10912" y="47183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prompt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099048" y="46451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“Use only the source, quote every item, never invent, and flag missing details.”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29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runtime system and user prompts are reproduced in PROMPT_DOCUMENTATION.md.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SAFETY AND LIMITATIONS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can make language simpler and still make mistakes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research makes safety controls central to the design, not an optional feature.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3504" y="2212848"/>
            <a:ext cx="3063240" cy="3182112"/>
          </a:xfrm>
          <a:prstGeom prst="roundRect">
            <a:avLst>
              <a:gd name="adj" fmla="val 4478"/>
            </a:avLst>
          </a:prstGeom>
          <a:solidFill>
            <a:srgbClr val="173C38"/>
          </a:solidFill>
          <a:ln w="5080">
            <a:solidFill>
              <a:srgbClr val="173C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5877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B8E9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18%</a:t>
            </a:r>
            <a:endParaRPr lang="en-US" sz="43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339242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100 AI-generated patient-centred discharge instructions were identified with potentially harmful safety issues in one 2024 study.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4645152"/>
            <a:ext cx="2404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7D1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used GPT-3.5 and MIMIC-IV discharge summaries. This is evidence of a risk, not a prediction for this prototype.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86784" y="2240280"/>
            <a:ext cx="7406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7620">
            <a:solidFill>
              <a:srgbClr val="DFE9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78808" y="2404872"/>
            <a:ext cx="265176" cy="265176"/>
          </a:xfrm>
          <a:prstGeom prst="ellipse">
            <a:avLst/>
          </a:prstGeom>
          <a:solidFill>
            <a:srgbClr val="E5F4EC"/>
          </a:solidFill>
          <a:ln w="6350">
            <a:solidFill>
              <a:srgbClr val="DCED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78808" y="2450592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350008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medication quotes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2350008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paraphrase or calculate dose, timing or duration.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86784" y="2990088"/>
            <a:ext cx="7406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7620">
            <a:solidFill>
              <a:srgbClr val="DFE9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78808" y="3154680"/>
            <a:ext cx="265176" cy="265176"/>
          </a:xfrm>
          <a:prstGeom prst="ellipse">
            <a:avLst/>
          </a:prstGeom>
          <a:solidFill>
            <a:srgbClr val="FFF0DD"/>
          </a:solidFill>
          <a:ln w="6350">
            <a:solidFill>
              <a:srgbClr val="F1D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78808" y="3200400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8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608576" y="3099816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3099816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or ambiguous details become questions for the care team.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86784" y="3739896"/>
            <a:ext cx="7406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7620">
            <a:solidFill>
              <a:srgbClr val="DFE9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78808" y="3904488"/>
            <a:ext cx="265176" cy="265176"/>
          </a:xfrm>
          <a:prstGeom prst="ellipse">
            <a:avLst/>
          </a:prstGeom>
          <a:solidFill>
            <a:srgbClr val="E5F4EC"/>
          </a:solidFill>
          <a:ln w="6350">
            <a:solidFill>
              <a:srgbClr val="DCED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78808" y="3950208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08576" y="3849624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validation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3849624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entries whose quoted source text does not match.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86784" y="4489704"/>
            <a:ext cx="740664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7620">
            <a:solidFill>
              <a:srgbClr val="DFE9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78808" y="4654296"/>
            <a:ext cx="265176" cy="265176"/>
          </a:xfrm>
          <a:prstGeom prst="ellipse">
            <a:avLst/>
          </a:prstGeom>
          <a:solidFill>
            <a:srgbClr val="E5F4EC"/>
          </a:solidFill>
          <a:ln w="6350">
            <a:solidFill>
              <a:srgbClr val="DCED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78808" y="4700016"/>
            <a:ext cx="265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608576" y="459943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review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01968" y="4599432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every output as a draft and block clinical-use claims.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29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Stanceski et al., npj Digital Medicine (2024), DOI 10.1038/s41746-024-01336-w.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DEMONSTRATION PLAN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the working loop, then explain what it cannot guarantee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assessment demo focuses on hands-on AI use, prompt iteration, technical execution, and responsible boundaries.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2304288"/>
            <a:ext cx="438912" cy="438912"/>
          </a:xfrm>
          <a:prstGeom prst="ellipse">
            <a:avLst/>
          </a:prstGeom>
          <a:solidFill>
            <a:srgbClr val="167D70"/>
          </a:solidFill>
          <a:ln w="6350">
            <a:solidFill>
              <a:srgbClr val="167D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295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locally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29514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Ollama model status and the selected installed model.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32688" y="2761488"/>
            <a:ext cx="0" cy="292608"/>
          </a:xfrm>
          <a:prstGeom prst="line">
            <a:avLst/>
          </a:prstGeom>
          <a:noFill/>
          <a:ln w="21590">
            <a:solidFill>
              <a:srgbClr val="C7DF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099816"/>
            <a:ext cx="438912" cy="438912"/>
          </a:xfrm>
          <a:prstGeom prst="ellipse">
            <a:avLst/>
          </a:prstGeom>
          <a:solidFill>
            <a:srgbClr val="8071C4"/>
          </a:solidFill>
          <a:ln w="6350">
            <a:solidFill>
              <a:srgbClr val="8071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2095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30906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fictional note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09067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built-in sample and confirm synthetic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32688" y="3557016"/>
            <a:ext cx="0" cy="292608"/>
          </a:xfrm>
          <a:prstGeom prst="line">
            <a:avLst/>
          </a:prstGeom>
          <a:noFill/>
          <a:ln w="21590">
            <a:solidFill>
              <a:srgbClr val="C7DF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895344"/>
            <a:ext cx="438912" cy="438912"/>
          </a:xfrm>
          <a:prstGeom prst="ellipse">
            <a:avLst/>
          </a:prstGeom>
          <a:solidFill>
            <a:srgbClr val="C68A4C"/>
          </a:solidFill>
          <a:ln w="6350">
            <a:solidFill>
              <a:srgbClr val="C68A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0050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886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the guide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8862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summary, source medication wording, steps, gaps, and questions.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" y="4352544"/>
            <a:ext cx="0" cy="292608"/>
          </a:xfrm>
          <a:prstGeom prst="line">
            <a:avLst/>
          </a:prstGeom>
          <a:noFill/>
          <a:ln w="21590">
            <a:solidFill>
              <a:srgbClr val="C7DF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690872"/>
            <a:ext cx="438912" cy="438912"/>
          </a:xfrm>
          <a:prstGeom prst="ellipse">
            <a:avLst/>
          </a:prstGeom>
          <a:solidFill>
            <a:srgbClr val="167D70"/>
          </a:solidFill>
          <a:ln w="6350">
            <a:solidFill>
              <a:srgbClr val="167D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8006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46817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and explain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68172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JSON/print, then explain why a clinician must review the draft.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81160" y="2258568"/>
            <a:ext cx="2148840" cy="3145536"/>
          </a:xfrm>
          <a:prstGeom prst="roundRect">
            <a:avLst>
              <a:gd name="adj" fmla="val 5957"/>
            </a:avLst>
          </a:prstGeom>
          <a:solidFill>
            <a:srgbClr val="EAF5F0"/>
          </a:solidFill>
          <a:ln w="7620">
            <a:solidFill>
              <a:srgbClr val="D8E9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28048" y="25328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528048" y="28620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success looks like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528048" y="365760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765792" y="3648456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local AI meaningfully</a:t>
            </a:r>
            <a:endParaRPr lang="en-US" sz="810" dirty="0"/>
          </a:p>
        </p:txBody>
      </p:sp>
      <p:sp>
        <p:nvSpPr>
          <p:cNvPr id="29" name="Text 27"/>
          <p:cNvSpPr txBox="1"/>
          <p:nvPr/>
        </p:nvSpPr>
        <p:spPr>
          <a:xfrm>
            <a:off x="9528048" y="393192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765792" y="3922776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prompt iterations</a:t>
            </a:r>
            <a:endParaRPr lang="en-US" sz="810" dirty="0"/>
          </a:p>
        </p:txBody>
      </p:sp>
      <p:sp>
        <p:nvSpPr>
          <p:cNvPr id="31" name="Text 29"/>
          <p:cNvSpPr txBox="1"/>
          <p:nvPr/>
        </p:nvSpPr>
        <p:spPr>
          <a:xfrm>
            <a:off x="9528048" y="4206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765792" y="4197096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a real app workflow</a:t>
            </a:r>
            <a:endParaRPr lang="en-US" sz="810" dirty="0"/>
          </a:p>
        </p:txBody>
      </p:sp>
      <p:sp>
        <p:nvSpPr>
          <p:cNvPr id="33" name="Text 31"/>
          <p:cNvSpPr txBox="1"/>
          <p:nvPr/>
        </p:nvSpPr>
        <p:spPr>
          <a:xfrm>
            <a:off x="9528048" y="448056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765792" y="4471416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missing details</a:t>
            </a:r>
            <a:endParaRPr lang="en-US" sz="810" dirty="0"/>
          </a:p>
        </p:txBody>
      </p:sp>
      <p:sp>
        <p:nvSpPr>
          <p:cNvPr id="35" name="Text 33"/>
          <p:cNvSpPr txBox="1"/>
          <p:nvPr/>
        </p:nvSpPr>
        <p:spPr>
          <a:xfrm>
            <a:off x="9528048" y="475488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765792" y="4745736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limitations</a:t>
            </a:r>
            <a:endParaRPr lang="en-US" sz="81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19963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295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PRESENTATION_SCRIPT.md for suggested narration. Record the actual running app and describe only what you personally verified.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95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REFERENCES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3C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and technical sources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84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supports the need for clearer discharge communication and cautions against unreviewed AI-generated instructions.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2148840"/>
            <a:ext cx="10954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7620">
            <a:solidFill>
              <a:srgbClr val="DFE9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68296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E5F4EC"/>
          </a:solidFill>
          <a:ln w="6350">
            <a:solidFill>
              <a:srgbClr val="E5F4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865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249424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Investigating discharge communication for chronic disease patients in three hospitals in India</a:t>
            </a:r>
            <a:endParaRPr lang="en-US" sz="106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514600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PLOS ONE / PMC, 2020. Reports gaps in documented and recalled discharge information.</a:t>
            </a:r>
            <a:endParaRPr lang="en-US" sz="840" dirty="0"/>
          </a:p>
        </p:txBody>
      </p:sp>
      <p:sp>
        <p:nvSpPr>
          <p:cNvPr id="10" name="Text 8">
            <a:hlinkClick r:id="rId1" tooltip=""/>
          </p:cNvPr>
          <p:cNvSpPr txBox="1"/>
          <p:nvPr/>
        </p:nvSpPr>
        <p:spPr>
          <a:xfrm>
            <a:off x="9400032" y="24048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u="sng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 ↗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21792" y="3044952"/>
            <a:ext cx="10954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7620">
            <a:solidFill>
              <a:srgbClr val="DFE9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264408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E5F4EC"/>
          </a:solidFill>
          <a:ln w="6350">
            <a:solidFill>
              <a:srgbClr val="E5F4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28269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3145536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WHO: Health literacy</a:t>
            </a:r>
            <a:endParaRPr lang="en-US" sz="106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3410712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Health Organization, updated 22 December 2025. Defines health literacy as accessing, understanding, appraising and using health information.</a:t>
            </a:r>
            <a:endParaRPr lang="en-US" sz="840" dirty="0"/>
          </a:p>
        </p:txBody>
      </p:sp>
      <p:sp>
        <p:nvSpPr>
          <p:cNvPr id="16" name="Text 14">
            <a:hlinkClick r:id="rId2" tooltip=""/>
          </p:cNvPr>
          <p:cNvSpPr txBox="1"/>
          <p:nvPr/>
        </p:nvSpPr>
        <p:spPr>
          <a:xfrm>
            <a:off x="9400032" y="33009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u="sng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 ↗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21792" y="3941064"/>
            <a:ext cx="10954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7620">
            <a:solidFill>
              <a:srgbClr val="DFE9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160520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F0ECFC"/>
          </a:solidFill>
          <a:ln w="6350">
            <a:solidFill>
              <a:srgbClr val="F0E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417880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7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1389888" y="4041648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quality and safety of using generative AI to produce patient-centred discharge instructions</a:t>
            </a:r>
            <a:endParaRPr lang="en-US" sz="106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4306824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npj Digital Medicine, 2024. Reports potentially harmful safety issues in 18% of 100 evaluated AI-generated instructions.</a:t>
            </a:r>
            <a:endParaRPr lang="en-US" sz="840" dirty="0"/>
          </a:p>
        </p:txBody>
      </p:sp>
      <p:sp>
        <p:nvSpPr>
          <p:cNvPr id="22" name="Text 20">
            <a:hlinkClick r:id="rId3" tooltip=""/>
          </p:cNvPr>
          <p:cNvSpPr txBox="1"/>
          <p:nvPr/>
        </p:nvSpPr>
        <p:spPr>
          <a:xfrm>
            <a:off x="9400032" y="4197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u="sng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 ↗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21792" y="4837176"/>
            <a:ext cx="1095451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7620">
            <a:solidFill>
              <a:srgbClr val="DFE9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5056632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E5F4EC"/>
          </a:solidFill>
          <a:ln w="6350">
            <a:solidFill>
              <a:srgbClr val="E5F4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50749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1389888" y="4937760"/>
            <a:ext cx="6812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03C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API documentation</a:t>
            </a:r>
            <a:endParaRPr lang="en-US" sz="106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5202936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API base URL, chat endpoint, and schema-constrained structured output.</a:t>
            </a:r>
            <a:endParaRPr lang="en-US" sz="840" dirty="0"/>
          </a:p>
        </p:txBody>
      </p:sp>
      <p:sp>
        <p:nvSpPr>
          <p:cNvPr id="28" name="Text 26">
            <a:hlinkClick r:id="rId4" tooltip=""/>
          </p:cNvPr>
          <p:cNvSpPr txBox="1"/>
          <p:nvPr/>
        </p:nvSpPr>
        <p:spPr>
          <a:xfrm>
            <a:off x="9400032" y="5093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u="sng" dirty="0">
                <a:solidFill>
                  <a:srgbClr val="167D7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 ↗</a:t>
            </a:r>
            <a:endParaRPr lang="en-US" sz="740" dirty="0"/>
          </a:p>
        </p:txBody>
      </p:sp>
      <p:sp>
        <p:nvSpPr>
          <p:cNvPr id="29" name="Text 27"/>
          <p:cNvSpPr txBox="1"/>
          <p:nvPr/>
        </p:nvSpPr>
        <p:spPr>
          <a:xfrm>
            <a:off x="676656" y="589788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85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prototype has not been clinically validated. Evidence and safety claims refer to the studies above, not to measured outcomes from this application.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1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Project Assessment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DischargeSaathi AI</dc:title>
  <dc:subject>Healthcare communication prototype using local Ollama</dc:subject>
  <dc:creator>DischargeSaathi AI Project</dc:creator>
  <cp:lastModifiedBy>DischargeSaathi AI Project</cp:lastModifiedBy>
  <cp:revision>1</cp:revision>
  <dcterms:created xsi:type="dcterms:W3CDTF">2026-10-28T07:45:51Z</dcterms:created>
  <dcterms:modified xsi:type="dcterms:W3CDTF">2026-10-28T07:45:51Z</dcterms:modified>
</cp:coreProperties>
</file>